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itchFamily="2" charset="77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Unbounded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988B"/>
    <a:srgbClr val="0AA770"/>
    <a:srgbClr val="112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83"/>
    <p:restoredTop sz="94610"/>
  </p:normalViewPr>
  <p:slideViewPr>
    <p:cSldViewPr snapToGrid="0" snapToObjects="1">
      <p:cViewPr>
        <p:scale>
          <a:sx n="84" d="100"/>
          <a:sy n="84" d="100"/>
        </p:scale>
        <p:origin x="216" y="40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31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ankinghub.eu/operations/how-to-find-a-best-fitting-it-solution-for-your-lending-busines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629846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8384" y="1449598"/>
            <a:ext cx="7855703" cy="121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Airport and Airline Management System</a:t>
            </a:r>
            <a:endParaRPr lang="en-US" sz="3200" b="1" dirty="0">
              <a:latin typeface="Helvetica" pitchFamily="2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58885EB-EA22-9001-7FE3-FD2289E23348}"/>
              </a:ext>
            </a:extLst>
          </p:cNvPr>
          <p:cNvSpPr/>
          <p:nvPr/>
        </p:nvSpPr>
        <p:spPr>
          <a:xfrm>
            <a:off x="5628383" y="2894787"/>
            <a:ext cx="8105545" cy="4187331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8AB06-DB1B-2063-1EA6-B9100E7A473C}"/>
              </a:ext>
            </a:extLst>
          </p:cNvPr>
          <p:cNvSpPr txBox="1"/>
          <p:nvPr/>
        </p:nvSpPr>
        <p:spPr>
          <a:xfrm>
            <a:off x="6418447" y="4681461"/>
            <a:ext cx="706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Name: Eric BIKORIMANA ID: 27928 Group: D (Thursday)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CA1FE-A76B-AE0F-0713-43FB05E15DD6}"/>
              </a:ext>
            </a:extLst>
          </p:cNvPr>
          <p:cNvSpPr txBox="1"/>
          <p:nvPr/>
        </p:nvSpPr>
        <p:spPr>
          <a:xfrm>
            <a:off x="6023415" y="5512458"/>
            <a:ext cx="7065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1"/>
              </a:solidFill>
              <a:latin typeface="Helvetica" pitchFamily="2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AUCA -</a:t>
            </a:r>
            <a:r>
              <a:rPr lang="en-US" sz="2400" dirty="0">
                <a:solidFill>
                  <a:schemeClr val="bg1"/>
                </a:solidFill>
                <a:effectLst/>
                <a:latin typeface="Helvetica" pitchFamily="2" charset="0"/>
              </a:rPr>
              <a:t>Database Development with PL/SQL 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effectLst/>
                <a:latin typeface="Helvetica" pitchFamily="2" charset="0"/>
              </a:rPr>
              <a:t>(INSY 8311)</a:t>
            </a:r>
          </a:p>
          <a:p>
            <a:pPr algn="ctr"/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2BC4F-B7FF-EA4F-8A28-28DF38C07103}"/>
              </a:ext>
            </a:extLst>
          </p:cNvPr>
          <p:cNvSpPr txBox="1"/>
          <p:nvPr/>
        </p:nvSpPr>
        <p:spPr>
          <a:xfrm>
            <a:off x="6418447" y="3478853"/>
            <a:ext cx="7460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/>
                <a:latin typeface="Helvetica" pitchFamily="2" charset="0"/>
              </a:rPr>
              <a:t>PL/SQL Oracle Database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58200" y="0"/>
            <a:ext cx="61722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6419" y="3507100"/>
            <a:ext cx="7468308" cy="1535267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7" name="Text 3"/>
          <p:cNvSpPr/>
          <p:nvPr/>
        </p:nvSpPr>
        <p:spPr>
          <a:xfrm>
            <a:off x="685846" y="3713051"/>
            <a:ext cx="225563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Context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5846" y="4084645"/>
            <a:ext cx="6934153" cy="65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Manual processes lead to data inconsistency, booking conflicts, and inefficient resource utilization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06419" y="1164481"/>
            <a:ext cx="7468552" cy="2022753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85846" y="1442333"/>
            <a:ext cx="286464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Issue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85846" y="1813927"/>
            <a:ext cx="6934154" cy="119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Airport operations require managing complex relationships between flights, passengers, aircraft, and bookings, which manual systems cannot efficiently handle, leading to errors and data inconsistency.</a:t>
            </a:r>
            <a:endParaRPr lang="en-US" sz="1400" dirty="0">
              <a:latin typeface="Helvetica" pitchFamily="2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06420" y="5709280"/>
            <a:ext cx="7468308" cy="2022752"/>
          </a:xfrm>
          <a:prstGeom prst="roundRect">
            <a:avLst>
              <a:gd name="adj" fmla="val 1552"/>
            </a:avLst>
          </a:prstGeom>
          <a:solidFill>
            <a:srgbClr val="304755"/>
          </a:solidFill>
          <a:ln/>
        </p:spPr>
      </p:sp>
      <p:sp>
        <p:nvSpPr>
          <p:cNvPr id="17" name="Text 11"/>
          <p:cNvSpPr/>
          <p:nvPr/>
        </p:nvSpPr>
        <p:spPr>
          <a:xfrm>
            <a:off x="685846" y="583329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sz="1650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User</a:t>
            </a:r>
            <a:endParaRPr lang="en-US" sz="1650" b="1" dirty="0">
              <a:latin typeface="Helvetica" pitchFamily="2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99096" y="6221277"/>
            <a:ext cx="6920903" cy="111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9387">
              <a:lnSpc>
                <a:spcPct val="150000"/>
              </a:lnSpc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Airport staff, airline operators, booking agents, and system administrators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4E903-7100-BBA5-130D-9FEB7F5D140E}"/>
              </a:ext>
            </a:extLst>
          </p:cNvPr>
          <p:cNvSpPr txBox="1"/>
          <p:nvPr/>
        </p:nvSpPr>
        <p:spPr>
          <a:xfrm>
            <a:off x="506420" y="270001"/>
            <a:ext cx="4145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Problem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0332D6-2BE8-9AAC-B999-B711FD963EE3}"/>
              </a:ext>
            </a:extLst>
          </p:cNvPr>
          <p:cNvSpPr/>
          <p:nvPr/>
        </p:nvSpPr>
        <p:spPr>
          <a:xfrm>
            <a:off x="621990" y="747550"/>
            <a:ext cx="3265516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419" y="342392"/>
            <a:ext cx="3760781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effectLst/>
                <a:latin typeface="Helvetica" pitchFamily="2" charset="0"/>
              </a:rPr>
              <a:t>Solution Overview</a:t>
            </a:r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9276874" y="2502585"/>
            <a:ext cx="4993849" cy="334329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82F3E8-74C1-E9C2-DB0F-DAF89794AA41}"/>
              </a:ext>
            </a:extLst>
          </p:cNvPr>
          <p:cNvSpPr/>
          <p:nvPr/>
        </p:nvSpPr>
        <p:spPr>
          <a:xfrm>
            <a:off x="506419" y="840585"/>
            <a:ext cx="3225308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78D979CD-4AAF-DAD9-4BC0-5DA4B3687244}"/>
              </a:ext>
            </a:extLst>
          </p:cNvPr>
          <p:cNvSpPr/>
          <p:nvPr/>
        </p:nvSpPr>
        <p:spPr>
          <a:xfrm>
            <a:off x="506419" y="3103582"/>
            <a:ext cx="7468308" cy="1535267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A748BB7E-43A1-0880-EF73-C24B02BD7A07}"/>
              </a:ext>
            </a:extLst>
          </p:cNvPr>
          <p:cNvSpPr/>
          <p:nvPr/>
        </p:nvSpPr>
        <p:spPr>
          <a:xfrm>
            <a:off x="685846" y="3309533"/>
            <a:ext cx="225563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Scope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A99A462-FAAC-FAD0-06F3-49751F7A5646}"/>
              </a:ext>
            </a:extLst>
          </p:cNvPr>
          <p:cNvSpPr/>
          <p:nvPr/>
        </p:nvSpPr>
        <p:spPr>
          <a:xfrm>
            <a:off x="685846" y="3681127"/>
            <a:ext cx="6934153" cy="65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Flight scheduling, passenger bookings, aircraft management, ticketing, and revenue tracking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F6EEC677-F281-CA70-046C-58AE976C7DAF}"/>
              </a:ext>
            </a:extLst>
          </p:cNvPr>
          <p:cNvSpPr/>
          <p:nvPr/>
        </p:nvSpPr>
        <p:spPr>
          <a:xfrm>
            <a:off x="506419" y="1460228"/>
            <a:ext cx="7468552" cy="1242806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482A441-3CB7-11CF-65CB-C16E72039390}"/>
              </a:ext>
            </a:extLst>
          </p:cNvPr>
          <p:cNvSpPr/>
          <p:nvPr/>
        </p:nvSpPr>
        <p:spPr>
          <a:xfrm>
            <a:off x="685846" y="1645272"/>
            <a:ext cx="286464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Objectives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AEA13C11-E66B-FBF6-967F-638755246F6F}"/>
              </a:ext>
            </a:extLst>
          </p:cNvPr>
          <p:cNvSpPr/>
          <p:nvPr/>
        </p:nvSpPr>
        <p:spPr>
          <a:xfrm>
            <a:off x="506419" y="5137693"/>
            <a:ext cx="7468308" cy="1242806"/>
          </a:xfrm>
          <a:prstGeom prst="roundRect">
            <a:avLst>
              <a:gd name="adj" fmla="val 1552"/>
            </a:avLst>
          </a:prstGeom>
          <a:solidFill>
            <a:srgbClr val="304755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6AFFC55-F808-23DA-518B-67225C62098D}"/>
              </a:ext>
            </a:extLst>
          </p:cNvPr>
          <p:cNvSpPr/>
          <p:nvPr/>
        </p:nvSpPr>
        <p:spPr>
          <a:xfrm>
            <a:off x="685845" y="5261710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sz="1650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Features</a:t>
            </a:r>
            <a:endParaRPr lang="en-US" sz="1650" b="1" dirty="0">
              <a:latin typeface="Helvetica" pitchFamily="2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73C66DC-0ADB-307F-86AA-38E9863F5FBB}"/>
              </a:ext>
            </a:extLst>
          </p:cNvPr>
          <p:cNvSpPr/>
          <p:nvPr/>
        </p:nvSpPr>
        <p:spPr>
          <a:xfrm>
            <a:off x="685845" y="5657043"/>
            <a:ext cx="6920903" cy="592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9387">
              <a:lnSpc>
                <a:spcPct val="150000"/>
              </a:lnSpc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Advanced PL/SQL implementation with packages, triggers, procedures, and </a:t>
            </a:r>
          </a:p>
          <a:p>
            <a:pPr marL="179387">
              <a:lnSpc>
                <a:spcPct val="150000"/>
              </a:lnSpc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comprehensive audit trails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2D721E6-21F6-5CB1-5FA9-975C69314A36}"/>
              </a:ext>
            </a:extLst>
          </p:cNvPr>
          <p:cNvSpPr/>
          <p:nvPr/>
        </p:nvSpPr>
        <p:spPr>
          <a:xfrm>
            <a:off x="506419" y="6753771"/>
            <a:ext cx="7468308" cy="1242806"/>
          </a:xfrm>
          <a:prstGeom prst="roundRect">
            <a:avLst>
              <a:gd name="adj" fmla="val 1552"/>
            </a:avLst>
          </a:prstGeom>
          <a:solidFill>
            <a:srgbClr val="304755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0138397-C8B7-743F-2184-D68BF490CF88}"/>
              </a:ext>
            </a:extLst>
          </p:cNvPr>
          <p:cNvSpPr/>
          <p:nvPr/>
        </p:nvSpPr>
        <p:spPr>
          <a:xfrm>
            <a:off x="685845" y="6877788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050"/>
              </a:lnSpc>
              <a:buFont typeface="Wingdings" pitchFamily="2" charset="2"/>
              <a:buChar char="v"/>
            </a:pPr>
            <a:r>
              <a:rPr lang="en-US" sz="1650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Benefits</a:t>
            </a:r>
            <a:endParaRPr lang="en-US" sz="1650" b="1" dirty="0">
              <a:latin typeface="Helvetica" pitchFamily="2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118AB01-3CC6-ECE2-FAC4-A7501784AA20}"/>
              </a:ext>
            </a:extLst>
          </p:cNvPr>
          <p:cNvSpPr/>
          <p:nvPr/>
        </p:nvSpPr>
        <p:spPr>
          <a:xfrm>
            <a:off x="699095" y="7265768"/>
            <a:ext cx="6920903" cy="592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9387">
              <a:lnSpc>
                <a:spcPct val="150000"/>
              </a:lnSpc>
            </a:pPr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Data integrity, automated workflows, role-based access, and business intelligence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63BDF7-F978-C52D-148E-8FEEEEB6485A}"/>
              </a:ext>
            </a:extLst>
          </p:cNvPr>
          <p:cNvSpPr txBox="1"/>
          <p:nvPr/>
        </p:nvSpPr>
        <p:spPr>
          <a:xfrm>
            <a:off x="685845" y="1946216"/>
            <a:ext cx="6891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FFFFFF"/>
                </a:solidFill>
                <a:effectLst/>
                <a:latin typeface="Helvetica" pitchFamily="2" charset="0"/>
              </a:rPr>
              <a:t>Centralized database system with automated business logic and real-time data management</a:t>
            </a:r>
            <a:endParaRPr lang="en-US" sz="14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C77A363-4C6F-5B4A-579F-6F10F8E64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31" t="20439" r="12771" b="17860"/>
          <a:stretch/>
        </p:blipFill>
        <p:spPr>
          <a:xfrm>
            <a:off x="7478781" y="2106820"/>
            <a:ext cx="6923496" cy="528789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29B056B-8B7C-D98C-7AE3-6F7CB3371E11}"/>
              </a:ext>
            </a:extLst>
          </p:cNvPr>
          <p:cNvSpPr/>
          <p:nvPr/>
        </p:nvSpPr>
        <p:spPr>
          <a:xfrm>
            <a:off x="704832" y="308869"/>
            <a:ext cx="4581042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effectLst/>
                <a:latin typeface="Helvetica" pitchFamily="2" charset="0"/>
              </a:rPr>
              <a:t>Database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F2DD4-7C70-DE85-46FF-63939994618E}"/>
              </a:ext>
            </a:extLst>
          </p:cNvPr>
          <p:cNvSpPr/>
          <p:nvPr/>
        </p:nvSpPr>
        <p:spPr>
          <a:xfrm>
            <a:off x="704832" y="807062"/>
            <a:ext cx="3887734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B85A133-5BA9-0646-35EC-EA03179E5B39}"/>
              </a:ext>
            </a:extLst>
          </p:cNvPr>
          <p:cNvSpPr/>
          <p:nvPr/>
        </p:nvSpPr>
        <p:spPr>
          <a:xfrm>
            <a:off x="3991740" y="1587082"/>
            <a:ext cx="3045163" cy="3600173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4A4E335-03E5-CB63-EF78-AB46DAACA585}"/>
              </a:ext>
            </a:extLst>
          </p:cNvPr>
          <p:cNvSpPr/>
          <p:nvPr/>
        </p:nvSpPr>
        <p:spPr>
          <a:xfrm>
            <a:off x="4286976" y="1878145"/>
            <a:ext cx="263065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50"/>
              </a:lnSpc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Core Entities((7 tables)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EF5AB1-73D0-9215-7780-377FA6AC9588}"/>
              </a:ext>
            </a:extLst>
          </p:cNvPr>
          <p:cNvSpPr/>
          <p:nvPr/>
        </p:nvSpPr>
        <p:spPr>
          <a:xfrm>
            <a:off x="228122" y="5561388"/>
            <a:ext cx="6808781" cy="1833325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99D5AF7-F400-4E66-EE4B-D453D07799AE}"/>
              </a:ext>
            </a:extLst>
          </p:cNvPr>
          <p:cNvSpPr/>
          <p:nvPr/>
        </p:nvSpPr>
        <p:spPr>
          <a:xfrm>
            <a:off x="579828" y="5786577"/>
            <a:ext cx="286464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50"/>
              </a:lnSpc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</a:rPr>
              <a:t>Audit tables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36CEB-9B7B-E17B-2BB1-E5123FA6ED7E}"/>
              </a:ext>
            </a:extLst>
          </p:cNvPr>
          <p:cNvSpPr txBox="1"/>
          <p:nvPr/>
        </p:nvSpPr>
        <p:spPr>
          <a:xfrm>
            <a:off x="579828" y="6228418"/>
            <a:ext cx="3630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Audit_log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Flight_audit_log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66689-0541-46AD-0A4D-6CF8396F67D8}"/>
              </a:ext>
            </a:extLst>
          </p:cNvPr>
          <p:cNvSpPr txBox="1"/>
          <p:nvPr/>
        </p:nvSpPr>
        <p:spPr>
          <a:xfrm>
            <a:off x="4286975" y="2260456"/>
            <a:ext cx="2259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Airports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Aircrafts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Airlines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Flights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Booking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Tickets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Passengers table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96ADD4E-3586-FAD9-4E2A-22354D05E8F5}"/>
              </a:ext>
            </a:extLst>
          </p:cNvPr>
          <p:cNvSpPr/>
          <p:nvPr/>
        </p:nvSpPr>
        <p:spPr>
          <a:xfrm>
            <a:off x="228123" y="1571342"/>
            <a:ext cx="3045163" cy="3600173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D19DE52-0AC4-D761-0664-58F9D129EB29}"/>
              </a:ext>
            </a:extLst>
          </p:cNvPr>
          <p:cNvSpPr/>
          <p:nvPr/>
        </p:nvSpPr>
        <p:spPr>
          <a:xfrm>
            <a:off x="494235" y="1878145"/>
            <a:ext cx="2864644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50"/>
              </a:lnSpc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</a:rPr>
              <a:t>Table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74196-E6C9-416A-FDD7-AD6A9BE5D8FB}"/>
              </a:ext>
            </a:extLst>
          </p:cNvPr>
          <p:cNvSpPr txBox="1"/>
          <p:nvPr/>
        </p:nvSpPr>
        <p:spPr>
          <a:xfrm>
            <a:off x="494234" y="2260455"/>
            <a:ext cx="2123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Employees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Holidays table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8998920-3C89-0CCB-4EC0-EF0139AFE08D}"/>
              </a:ext>
            </a:extLst>
          </p:cNvPr>
          <p:cNvSpPr/>
          <p:nvPr/>
        </p:nvSpPr>
        <p:spPr>
          <a:xfrm>
            <a:off x="9983008" y="1614183"/>
            <a:ext cx="263065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50"/>
              </a:lnSpc>
            </a:pPr>
            <a:r>
              <a:rPr lang="en-US" b="1" dirty="0">
                <a:solidFill>
                  <a:srgbClr val="CAD6DE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ER Diagram</a:t>
            </a:r>
            <a:endParaRPr lang="en-US" b="1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3509D-574A-2BEA-D1FD-7A177F0EBB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6" t="8328" r="2055" b="4540"/>
          <a:stretch/>
        </p:blipFill>
        <p:spPr>
          <a:xfrm>
            <a:off x="896470" y="1692584"/>
            <a:ext cx="12837459" cy="6213785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78F0FC0-F72B-0B18-A386-3A9AD2BD6B7D}"/>
              </a:ext>
            </a:extLst>
          </p:cNvPr>
          <p:cNvSpPr/>
          <p:nvPr/>
        </p:nvSpPr>
        <p:spPr>
          <a:xfrm>
            <a:off x="715616" y="323231"/>
            <a:ext cx="4987759" cy="43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en-US" sz="3200" b="1" i="0" dirty="0">
                <a:solidFill>
                  <a:srgbClr val="FFFFFF"/>
                </a:solidFill>
                <a:effectLst/>
                <a:latin typeface="Helvetica" pitchFamily="2" charset="0"/>
              </a:rPr>
              <a:t>Business Process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57DB68-FE90-6641-D253-9DB4AF9010F6}"/>
              </a:ext>
            </a:extLst>
          </p:cNvPr>
          <p:cNvSpPr/>
          <p:nvPr/>
        </p:nvSpPr>
        <p:spPr>
          <a:xfrm>
            <a:off x="715616" y="733058"/>
            <a:ext cx="3887734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34F7C-4245-618D-6FBC-BF41B1D87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778" y="1199670"/>
            <a:ext cx="293996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Ticket Booking Process</a:t>
            </a:r>
          </a:p>
        </p:txBody>
      </p:sp>
    </p:spTree>
    <p:extLst>
      <p:ext uri="{BB962C8B-B14F-4D97-AF65-F5344CB8AC3E}">
        <p14:creationId xmlns:p14="http://schemas.microsoft.com/office/powerpoint/2010/main" val="391009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966" y="337485"/>
            <a:ext cx="481485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Technical Implementation</a:t>
            </a:r>
            <a:endParaRPr lang="en-US" sz="3200" dirty="0">
              <a:latin typeface="Helvetica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0FD353-1A92-C55A-B58A-FAB4252434DC}"/>
              </a:ext>
            </a:extLst>
          </p:cNvPr>
          <p:cNvSpPr/>
          <p:nvPr/>
        </p:nvSpPr>
        <p:spPr>
          <a:xfrm>
            <a:off x="853235" y="772778"/>
            <a:ext cx="4049002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A1BD23B5-F2F4-FE10-0BD5-E405691A3F5A}"/>
              </a:ext>
            </a:extLst>
          </p:cNvPr>
          <p:cNvSpPr/>
          <p:nvPr/>
        </p:nvSpPr>
        <p:spPr>
          <a:xfrm>
            <a:off x="689816" y="1847482"/>
            <a:ext cx="5833067" cy="1572818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340CB3-B794-A1B3-1064-C0BBC69E83A4}"/>
              </a:ext>
            </a:extLst>
          </p:cNvPr>
          <p:cNvSpPr txBox="1"/>
          <p:nvPr/>
        </p:nvSpPr>
        <p:spPr>
          <a:xfrm>
            <a:off x="858265" y="1956782"/>
            <a:ext cx="47062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Technology: 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Oracle Database 23c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SQL Developer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Visual Studio Code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Draw.io </a:t>
            </a: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2DE45D01-19C3-A36B-168A-8F7721AE18EF}"/>
              </a:ext>
            </a:extLst>
          </p:cNvPr>
          <p:cNvSpPr/>
          <p:nvPr/>
        </p:nvSpPr>
        <p:spPr>
          <a:xfrm>
            <a:off x="663517" y="4464893"/>
            <a:ext cx="13006763" cy="3290680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AF4AE4-30E9-BD6E-1284-921644C3BB57}"/>
              </a:ext>
            </a:extLst>
          </p:cNvPr>
          <p:cNvSpPr txBox="1"/>
          <p:nvPr/>
        </p:nvSpPr>
        <p:spPr>
          <a:xfrm>
            <a:off x="831967" y="4747034"/>
            <a:ext cx="125335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1600" b="1" dirty="0">
                <a:solidFill>
                  <a:schemeClr val="bg1"/>
                </a:solidFill>
                <a:latin typeface="Helvetica" pitchFamily="2" charset="0"/>
              </a:rPr>
              <a:t> Pluggable Database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thu_27928_eric_aiportMS_db(PDB)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Database name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: eric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Database user: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eric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PL/SQL Logic: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   Package: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airport_mng_pkg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encapsulates all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   Procedures(9):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add_flight, book_ticket, cancel_booking, update_flight_details, list_flights_from_airport, passenger_flight_summary, 	show_upcoming_flights, show_flight_passengers, generate_revenue_report.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   Functions(5):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	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</a:rPr>
              <a:t>get_available_seats, calculate_flight_duration, get_total_revenue, get_booking_count, is_seat_available.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B729A-1EFB-C173-757C-CBC9E9D3E1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781" b="29575"/>
          <a:stretch/>
        </p:blipFill>
        <p:spPr>
          <a:xfrm>
            <a:off x="8107519" y="772778"/>
            <a:ext cx="5690916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">
            <a:extLst>
              <a:ext uri="{FF2B5EF4-FFF2-40B4-BE49-F238E27FC236}">
                <a16:creationId xmlns:a16="http://schemas.microsoft.com/office/drawing/2014/main" id="{63E415A3-3E0D-3668-E15C-394B0E10B6D6}"/>
              </a:ext>
            </a:extLst>
          </p:cNvPr>
          <p:cNvSpPr/>
          <p:nvPr/>
        </p:nvSpPr>
        <p:spPr>
          <a:xfrm>
            <a:off x="851534" y="4759640"/>
            <a:ext cx="7880984" cy="1199914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B24EC120-B7CC-ED89-6269-D1968A36EE20}"/>
              </a:ext>
            </a:extLst>
          </p:cNvPr>
          <p:cNvSpPr/>
          <p:nvPr/>
        </p:nvSpPr>
        <p:spPr>
          <a:xfrm>
            <a:off x="4675523" y="2768322"/>
            <a:ext cx="4056995" cy="1724858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E671D0F-2E6A-0E60-DC40-79E7358AA77C}"/>
              </a:ext>
            </a:extLst>
          </p:cNvPr>
          <p:cNvSpPr/>
          <p:nvPr/>
        </p:nvSpPr>
        <p:spPr>
          <a:xfrm>
            <a:off x="837724" y="2788448"/>
            <a:ext cx="3616880" cy="1704731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67464"/>
            <a:ext cx="7468553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Advanced Features: Triggers, Auditing &amp; Security</a:t>
            </a:r>
            <a:endParaRPr lang="en-US" sz="330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7150" y="2883217"/>
            <a:ext cx="253198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Trigger System (14 Triggers)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sz="1650" dirty="0">
              <a:solidFill>
                <a:schemeClr val="bg1"/>
              </a:solidFill>
              <a:latin typeface="Helvetica" pitchFamily="2" charset="0"/>
              <a:ea typeface="Unbounded" pitchFamily="34" charset="-122"/>
              <a:cs typeface="Unbounde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7150" y="3254811"/>
            <a:ext cx="3285649" cy="8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Universal audit (8), Flight audit (1)</a:t>
            </a:r>
          </a:p>
        </p:txBody>
      </p:sp>
      <p:sp>
        <p:nvSpPr>
          <p:cNvPr id="9" name="Text 6"/>
          <p:cNvSpPr/>
          <p:nvPr/>
        </p:nvSpPr>
        <p:spPr>
          <a:xfrm>
            <a:off x="4841080" y="2883217"/>
            <a:ext cx="307871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Comprehensive Auditing</a:t>
            </a:r>
          </a:p>
        </p:txBody>
      </p:sp>
      <p:sp>
        <p:nvSpPr>
          <p:cNvPr id="10" name="Text 7"/>
          <p:cNvSpPr/>
          <p:nvPr/>
        </p:nvSpPr>
        <p:spPr>
          <a:xfrm>
            <a:off x="4841079" y="3254811"/>
            <a:ext cx="3678079" cy="1148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  <a:ea typeface="Cabin" pitchFamily="34" charset="-122"/>
                <a:cs typeface="Cabin" pitchFamily="34" charset="-120"/>
              </a:rPr>
              <a:t>PRAGMA AUTONOMOUS_TRANSACTION ensures audit logs survive rollbacks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7150" y="494180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Role-Based Security</a:t>
            </a:r>
            <a:endParaRPr lang="en-US" sz="165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7150" y="5313401"/>
            <a:ext cx="7109698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Helvetica" pitchFamily="2" charset="0"/>
                <a:ea typeface="Cabin" pitchFamily="34" charset="-122"/>
                <a:cs typeface="Cabin" pitchFamily="34" charset="-120"/>
              </a:rPr>
              <a:t>ADMIN, MANAGER, AGENT roles with granular permissions and time-based restrictions</a:t>
            </a:r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462" y="656392"/>
            <a:ext cx="10160675" cy="45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 &amp; Analytics</a:t>
            </a:r>
            <a:endParaRPr lang="en-US" sz="2850" dirty="0"/>
          </a:p>
        </p:txBody>
      </p:sp>
      <p:sp>
        <p:nvSpPr>
          <p:cNvPr id="15" name="Shape 12"/>
          <p:cNvSpPr/>
          <p:nvPr/>
        </p:nvSpPr>
        <p:spPr>
          <a:xfrm>
            <a:off x="776884" y="4678680"/>
            <a:ext cx="7003435" cy="2757368"/>
          </a:xfrm>
          <a:prstGeom prst="roundRect">
            <a:avLst>
              <a:gd name="adj" fmla="val 2064"/>
            </a:avLst>
          </a:prstGeom>
          <a:solidFill>
            <a:srgbClr val="304755"/>
          </a:solidFill>
          <a:ln/>
        </p:spPr>
      </p:sp>
      <p:sp>
        <p:nvSpPr>
          <p:cNvPr id="18" name="Shape 15"/>
          <p:cNvSpPr/>
          <p:nvPr/>
        </p:nvSpPr>
        <p:spPr>
          <a:xfrm>
            <a:off x="776884" y="2485305"/>
            <a:ext cx="7003435" cy="1736175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8C1507D-D668-4750-8C8B-B9DF97173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39" y="4808136"/>
            <a:ext cx="6423361" cy="262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Key Performance Indicators (KPIs)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Daily Passenger Traffic: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bg1"/>
                </a:solidFill>
                <a:latin typeface="Helvetica" pitchFamily="2" charset="0"/>
              </a:rPr>
              <a:t>Shows the number of passengers traveling each day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bg1"/>
              </a:solidFill>
              <a:latin typeface="Helvetica" pitchFamily="2" charset="0"/>
            </a:endParaRPr>
          </a:p>
          <a:p>
            <a:pPr marL="5715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2. Revenue Per Route: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bg1"/>
                </a:solidFill>
                <a:latin typeface="Helvetica" pitchFamily="2" charset="0"/>
              </a:rPr>
              <a:t>Calculates total revenue for each flight route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bg1"/>
              </a:solidFill>
              <a:latin typeface="Helvetica" pitchFamily="2" charset="0"/>
            </a:endParaRPr>
          </a:p>
          <a:p>
            <a:pPr marL="5715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3. Booking Trends Analysis: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bg1"/>
                </a:solidFill>
                <a:latin typeface="Helvetica" pitchFamily="2" charset="0"/>
              </a:rPr>
              <a:t>Analyzes booking patterns by day of week and month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D5F31E-A068-B284-E144-8487DACB94CD}"/>
              </a:ext>
            </a:extLst>
          </p:cNvPr>
          <p:cNvSpPr txBox="1"/>
          <p:nvPr/>
        </p:nvSpPr>
        <p:spPr>
          <a:xfrm>
            <a:off x="695147" y="1467255"/>
            <a:ext cx="8537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The BI solution uses Oracle Database with PL/SQL as the primary data source and supports analytical queries, and management reports.</a:t>
            </a:r>
          </a:p>
          <a:p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5BD8A-4E61-F0A7-31BB-7F56848C9F88}"/>
              </a:ext>
            </a:extLst>
          </p:cNvPr>
          <p:cNvSpPr txBox="1"/>
          <p:nvPr/>
        </p:nvSpPr>
        <p:spPr>
          <a:xfrm>
            <a:off x="891839" y="2586141"/>
            <a:ext cx="6888480" cy="1410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The BI system aims to:</a:t>
            </a:r>
          </a:p>
          <a:p>
            <a:pPr marL="285750" indent="-1651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Monitor daily passenger traffic and booking volumes</a:t>
            </a:r>
          </a:p>
          <a:p>
            <a:pPr marL="285750" indent="-1651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Analyze revenue performance by route and country</a:t>
            </a:r>
          </a:p>
          <a:p>
            <a:pPr marL="285750" indent="-1651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Identify booking and cancellation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903" y="375781"/>
            <a:ext cx="2884044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GB" sz="3300" dirty="0">
                <a:solidFill>
                  <a:schemeClr val="bg1"/>
                </a:solidFill>
                <a:latin typeface="Helvetica" pitchFamily="2" charset="0"/>
              </a:rPr>
              <a:t>Test Results</a:t>
            </a:r>
            <a:endParaRPr lang="en-US" sz="33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4701" y="3151583"/>
            <a:ext cx="7089899" cy="47022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FC60A8F-791E-BB12-C529-44A6009524F9}"/>
              </a:ext>
            </a:extLst>
          </p:cNvPr>
          <p:cNvSpPr txBox="1"/>
          <p:nvPr/>
        </p:nvSpPr>
        <p:spPr>
          <a:xfrm>
            <a:off x="397777" y="1634881"/>
            <a:ext cx="115401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solidFill>
                  <a:schemeClr val="bg1"/>
                </a:solidFill>
                <a:latin typeface="Helvetica" pitchFamily="2" charset="0"/>
              </a:rPr>
              <a:t> 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usiness rule enforcement: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 Constraints validating that CHECK(departure_time &lt; arrival_time</a:t>
            </a:r>
            <a:r>
              <a:rPr lang="en-US" altLang="en-US" sz="1400" dirty="0">
                <a:solidFill>
                  <a:schemeClr val="bg1"/>
                </a:solidFill>
                <a:latin typeface="Helvetica" pitchFamily="2" charset="0"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 Transaction Safety: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 The system blocks flights with identical departure and arrival airports, raising exception to enforce business logic and 		protect data integrity. (Rollback on error).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</a:rPr>
              <a:t> Test Evidence: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Helvetica" pitchFamily="2" charset="0"/>
            </a:endParaRPr>
          </a:p>
          <a:p>
            <a:endParaRPr lang="en-US" sz="14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68C037-DD5F-61D7-2EF4-D7CA905DB396}"/>
              </a:ext>
            </a:extLst>
          </p:cNvPr>
          <p:cNvSpPr/>
          <p:nvPr/>
        </p:nvSpPr>
        <p:spPr>
          <a:xfrm>
            <a:off x="524903" y="787619"/>
            <a:ext cx="2009273" cy="45719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5">
            <a:extLst>
              <a:ext uri="{FF2B5EF4-FFF2-40B4-BE49-F238E27FC236}">
                <a16:creationId xmlns:a16="http://schemas.microsoft.com/office/drawing/2014/main" id="{2508E605-2DA8-574D-9EE4-8EE1B5702584}"/>
              </a:ext>
            </a:extLst>
          </p:cNvPr>
          <p:cNvSpPr/>
          <p:nvPr/>
        </p:nvSpPr>
        <p:spPr>
          <a:xfrm>
            <a:off x="719786" y="4288520"/>
            <a:ext cx="12883671" cy="1735664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B135046C-5E87-7978-DC3D-016F089FA7CE}"/>
              </a:ext>
            </a:extLst>
          </p:cNvPr>
          <p:cNvSpPr/>
          <p:nvPr/>
        </p:nvSpPr>
        <p:spPr>
          <a:xfrm>
            <a:off x="719787" y="1829044"/>
            <a:ext cx="12883671" cy="1735664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837724" y="760809"/>
            <a:ext cx="6907782" cy="52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Helvetica" pitchFamily="2" charset="0"/>
                <a:ea typeface="Unbounded" pitchFamily="34" charset="-122"/>
                <a:cs typeface="Unbounded" pitchFamily="34" charset="-120"/>
              </a:rPr>
              <a:t>Conclusion &amp; Future Enhancements</a:t>
            </a:r>
            <a:endParaRPr lang="en-US" sz="3300" dirty="0">
              <a:latin typeface="Helvetica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86893" y="3876997"/>
            <a:ext cx="10616565" cy="1143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07392" y="6395954"/>
            <a:ext cx="8457367" cy="1143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CC6392AA-3165-4547-D578-09B511300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24" y="1833646"/>
            <a:ext cx="84983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Helvetica" pitchFamily="2" charset="0"/>
              </a:rPr>
              <a:t>Achievements:</a:t>
            </a:r>
            <a:endParaRPr lang="en-US" altLang="en-US" sz="1800" dirty="0">
              <a:solidFill>
                <a:schemeClr val="bg1"/>
              </a:solidFill>
              <a:latin typeface="Helvetica" pitchFamily="2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Helvetica" pitchFamily="2" charset="0"/>
              </a:rPr>
              <a:t> Fully functional, secure PL/SQL backend.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Helvetica" pitchFamily="2" charset="0"/>
              </a:rPr>
              <a:t> Implemented complex logic (Triggers, Packages).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Helvetica" pitchFamily="2" charset="0"/>
              </a:rPr>
              <a:t> Met all security and auditing requirements.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bg1"/>
                </a:solidFill>
                <a:latin typeface="Helvetica" pitchFamily="2" charset="0"/>
              </a:rPr>
              <a:t> Lessons Learned:</a:t>
            </a:r>
            <a:r>
              <a:rPr lang="en-US" altLang="en-US" sz="1800" dirty="0">
                <a:solidFill>
                  <a:schemeClr val="bg1"/>
                </a:solidFill>
                <a:latin typeface="Helvetica" pitchFamily="2" charset="0"/>
              </a:rPr>
              <a:t> Importance of Autonomous Transactions for security logging.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134BBBF3-2716-6F59-F28A-49828AC6F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034" y="4578890"/>
            <a:ext cx="1211411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bg1"/>
                </a:solidFill>
                <a:latin typeface="Helvetica" pitchFamily="2" charset="0"/>
              </a:rPr>
              <a:t>Future Enhancements:</a:t>
            </a:r>
            <a:endParaRPr lang="en-US" altLang="en-US" sz="1600" dirty="0">
              <a:solidFill>
                <a:schemeClr val="bg1"/>
              </a:solidFill>
              <a:latin typeface="Helvetica" pitchFamily="2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 Integration with Real-Time Flight Tracking Systems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 Intelligent Baggage Tracking System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 Advanced Business Intelligence and Predictive Analytics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Helvetica" pitchFamily="2" charset="0"/>
              </a:rPr>
              <a:t>Weather Impact Analysis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D59D06-1C17-7C5D-0E15-974FCA88C4BF}"/>
              </a:ext>
            </a:extLst>
          </p:cNvPr>
          <p:cNvSpPr/>
          <p:nvPr/>
        </p:nvSpPr>
        <p:spPr>
          <a:xfrm>
            <a:off x="837724" y="1286960"/>
            <a:ext cx="4269668" cy="60577"/>
          </a:xfrm>
          <a:prstGeom prst="rect">
            <a:avLst/>
          </a:prstGeom>
          <a:solidFill>
            <a:srgbClr val="0AA7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638</Words>
  <Application>Microsoft Macintosh PowerPoint</Application>
  <PresentationFormat>Custom</PresentationFormat>
  <Paragraphs>104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Cabin</vt:lpstr>
      <vt:lpstr>Arial</vt:lpstr>
      <vt:lpstr>Helvetica</vt:lpstr>
      <vt:lpstr>Unbounded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pro</cp:lastModifiedBy>
  <cp:revision>22</cp:revision>
  <dcterms:created xsi:type="dcterms:W3CDTF">2025-12-08T08:20:53Z</dcterms:created>
  <dcterms:modified xsi:type="dcterms:W3CDTF">2025-12-19T23:31:19Z</dcterms:modified>
</cp:coreProperties>
</file>